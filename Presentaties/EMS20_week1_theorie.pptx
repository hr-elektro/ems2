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30" r:id="rId4"/>
    <p:sldMasterId id="2147484650" r:id="rId5"/>
  </p:sldMasterIdLst>
  <p:notesMasterIdLst>
    <p:notesMasterId r:id="rId35"/>
  </p:notesMasterIdLst>
  <p:handoutMasterIdLst>
    <p:handoutMasterId r:id="rId36"/>
  </p:handoutMasterIdLst>
  <p:sldIdLst>
    <p:sldId id="365" r:id="rId6"/>
    <p:sldId id="377" r:id="rId7"/>
    <p:sldId id="317" r:id="rId8"/>
    <p:sldId id="323" r:id="rId9"/>
    <p:sldId id="380" r:id="rId10"/>
    <p:sldId id="381" r:id="rId11"/>
    <p:sldId id="359" r:id="rId12"/>
    <p:sldId id="382" r:id="rId13"/>
    <p:sldId id="329" r:id="rId14"/>
    <p:sldId id="360" r:id="rId15"/>
    <p:sldId id="361" r:id="rId16"/>
    <p:sldId id="330" r:id="rId17"/>
    <p:sldId id="325" r:id="rId18"/>
    <p:sldId id="341" r:id="rId19"/>
    <p:sldId id="344" r:id="rId20"/>
    <p:sldId id="346" r:id="rId21"/>
    <p:sldId id="347" r:id="rId22"/>
    <p:sldId id="355" r:id="rId23"/>
    <p:sldId id="356" r:id="rId24"/>
    <p:sldId id="350" r:id="rId25"/>
    <p:sldId id="348" r:id="rId26"/>
    <p:sldId id="349" r:id="rId27"/>
    <p:sldId id="358" r:id="rId28"/>
    <p:sldId id="362" r:id="rId29"/>
    <p:sldId id="364" r:id="rId30"/>
    <p:sldId id="363" r:id="rId31"/>
    <p:sldId id="340" r:id="rId32"/>
    <p:sldId id="379" r:id="rId33"/>
    <p:sldId id="376" r:id="rId34"/>
  </p:sldIdLst>
  <p:sldSz cx="9144000" cy="5715000" type="screen16x1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320" userDrawn="1">
          <p15:clr>
            <a:srgbClr val="A4A3A4"/>
          </p15:clr>
        </p15:guide>
        <p15:guide id="3" orient="horz" pos="2934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1920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4800" userDrawn="1">
          <p15:clr>
            <a:srgbClr val="A4A3A4"/>
          </p15:clr>
        </p15:guide>
        <p15:guide id="9" pos="1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oeders, J.Z.M. (Harry)" initials="BJ(" lastIdx="1" clrIdx="0">
    <p:extLst>
      <p:ext uri="{19B8F6BF-5375-455C-9EA6-DF929625EA0E}">
        <p15:presenceInfo xmlns:p15="http://schemas.microsoft.com/office/powerpoint/2012/main" userId="Broeders, J.Z.M. (Harry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71327"/>
    <a:srgbClr val="CF0033"/>
    <a:srgbClr val="CC0033"/>
    <a:srgbClr val="B10538"/>
    <a:srgbClr val="D4737D"/>
    <a:srgbClr val="FBE0DF"/>
    <a:srgbClr val="A4D7DF"/>
    <a:srgbClr val="F3C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82" d="100"/>
          <a:sy n="182" d="100"/>
        </p:scale>
        <p:origin x="1092" y="180"/>
      </p:cViewPr>
      <p:guideLst>
        <p:guide orient="horz" pos="1800"/>
        <p:guide orient="horz" pos="320"/>
        <p:guide orient="horz" pos="2934"/>
        <p:guide pos="2880"/>
        <p:guide pos="1920"/>
        <p:guide pos="960"/>
        <p:guide pos="3840"/>
        <p:guide pos="4800"/>
        <p:guide pos="1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" userId="232a7581-4ed9-4945-b881-14b492608e41" providerId="ADAL" clId="{3C82D024-CAB9-4E73-825C-A02DF91E80A5}"/>
    <pc:docChg chg="addSld modSld">
      <pc:chgData name="Ron" userId="232a7581-4ed9-4945-b881-14b492608e41" providerId="ADAL" clId="{3C82D024-CAB9-4E73-825C-A02DF91E80A5}" dt="2021-09-13T09:19:58.472" v="1"/>
      <pc:docMkLst>
        <pc:docMk/>
      </pc:docMkLst>
      <pc:sldChg chg="add">
        <pc:chgData name="Ron" userId="232a7581-4ed9-4945-b881-14b492608e41" providerId="ADAL" clId="{3C82D024-CAB9-4E73-825C-A02DF91E80A5}" dt="2021-09-13T08:00:10.340" v="0"/>
        <pc:sldMkLst>
          <pc:docMk/>
          <pc:sldMk cId="978914849" sldId="378"/>
        </pc:sldMkLst>
      </pc:sldChg>
      <pc:sldChg chg="add">
        <pc:chgData name="Ron" userId="232a7581-4ed9-4945-b881-14b492608e41" providerId="ADAL" clId="{3C82D024-CAB9-4E73-825C-A02DF91E80A5}" dt="2021-09-13T09:19:58.472" v="1"/>
        <pc:sldMkLst>
          <pc:docMk/>
          <pc:sldMk cId="3160342035" sldId="379"/>
        </pc:sldMkLst>
      </pc:sldChg>
    </pc:docChg>
  </pc:docChgLst>
  <pc:docChgLst>
    <pc:chgData name="Verhagen, R.T. (Ron)" userId="232a7581-4ed9-4945-b881-14b492608e41" providerId="ADAL" clId="{64E5560C-6652-4601-AC91-01BDA5221645}"/>
    <pc:docChg chg="modSld">
      <pc:chgData name="Verhagen, R.T. (Ron)" userId="232a7581-4ed9-4945-b881-14b492608e41" providerId="ADAL" clId="{64E5560C-6652-4601-AC91-01BDA5221645}" dt="2021-09-27T09:34:53.638" v="15" actId="20577"/>
      <pc:docMkLst>
        <pc:docMk/>
      </pc:docMkLst>
      <pc:sldChg chg="modSp mod">
        <pc:chgData name="Verhagen, R.T. (Ron)" userId="232a7581-4ed9-4945-b881-14b492608e41" providerId="ADAL" clId="{64E5560C-6652-4601-AC91-01BDA5221645}" dt="2021-09-27T09:34:53.638" v="15" actId="20577"/>
        <pc:sldMkLst>
          <pc:docMk/>
          <pc:sldMk cId="3538151483" sldId="376"/>
        </pc:sldMkLst>
        <pc:spChg chg="mod">
          <ac:chgData name="Verhagen, R.T. (Ron)" userId="232a7581-4ed9-4945-b881-14b492608e41" providerId="ADAL" clId="{64E5560C-6652-4601-AC91-01BDA5221645}" dt="2021-09-27T09:34:53.638" v="15" actId="20577"/>
          <ac:spMkLst>
            <pc:docMk/>
            <pc:sldMk cId="3538151483" sldId="376"/>
            <ac:spMk id="4" creationId="{D0C0D3BE-8CEE-48EB-BF61-95793A0AFFF5}"/>
          </ac:spMkLst>
        </pc:spChg>
      </pc:sldChg>
      <pc:sldChg chg="modSp mod">
        <pc:chgData name="Verhagen, R.T. (Ron)" userId="232a7581-4ed9-4945-b881-14b492608e41" providerId="ADAL" clId="{64E5560C-6652-4601-AC91-01BDA5221645}" dt="2021-09-27T08:05:16.169" v="0"/>
        <pc:sldMkLst>
          <pc:docMk/>
          <pc:sldMk cId="978914849" sldId="378"/>
        </pc:sldMkLst>
        <pc:spChg chg="mod">
          <ac:chgData name="Verhagen, R.T. (Ron)" userId="232a7581-4ed9-4945-b881-14b492608e41" providerId="ADAL" clId="{64E5560C-6652-4601-AC91-01BDA5221645}" dt="2021-09-27T08:05:16.169" v="0"/>
          <ac:spMkLst>
            <pc:docMk/>
            <pc:sldMk cId="978914849" sldId="378"/>
            <ac:spMk id="2" creationId="{6B5A6FAB-97C1-44F1-80A1-86A91C32A86A}"/>
          </ac:spMkLst>
        </pc:spChg>
      </pc:sldChg>
      <pc:sldChg chg="modSp mod">
        <pc:chgData name="Verhagen, R.T. (Ron)" userId="232a7581-4ed9-4945-b881-14b492608e41" providerId="ADAL" clId="{64E5560C-6652-4601-AC91-01BDA5221645}" dt="2021-09-27T09:34:43.886" v="12" actId="20577"/>
        <pc:sldMkLst>
          <pc:docMk/>
          <pc:sldMk cId="3160342035" sldId="379"/>
        </pc:sldMkLst>
        <pc:spChg chg="mod">
          <ac:chgData name="Verhagen, R.T. (Ron)" userId="232a7581-4ed9-4945-b881-14b492608e41" providerId="ADAL" clId="{64E5560C-6652-4601-AC91-01BDA5221645}" dt="2021-09-27T09:34:43.886" v="12" actId="20577"/>
          <ac:spMkLst>
            <pc:docMk/>
            <pc:sldMk cId="3160342035" sldId="379"/>
            <ac:spMk id="2" creationId="{6B5A6FAB-97C1-44F1-80A1-86A91C32A86A}"/>
          </ac:spMkLst>
        </pc:spChg>
      </pc:sldChg>
    </pc:docChg>
  </pc:docChgLst>
  <pc:docChgLst>
    <pc:chgData name="Remco van den Enden" userId="0ebf1ae7-f412-4a41-bd03-b38a5d9f91fc" providerId="ADAL" clId="{282EB25F-464C-4F65-B8BE-5EC1AF3EA308}"/>
    <pc:docChg chg="modSld">
      <pc:chgData name="Remco van den Enden" userId="0ebf1ae7-f412-4a41-bd03-b38a5d9f91fc" providerId="ADAL" clId="{282EB25F-464C-4F65-B8BE-5EC1AF3EA308}" dt="2018-09-17T10:12:35.071" v="1" actId="20577"/>
      <pc:docMkLst>
        <pc:docMk/>
      </pc:docMkLst>
      <pc:sldChg chg="modSp">
        <pc:chgData name="Remco van den Enden" userId="0ebf1ae7-f412-4a41-bd03-b38a5d9f91fc" providerId="ADAL" clId="{282EB25F-464C-4F65-B8BE-5EC1AF3EA308}" dt="2018-09-17T10:12:28.332" v="0" actId="20577"/>
        <pc:sldMkLst>
          <pc:docMk/>
          <pc:sldMk cId="4271662944" sldId="326"/>
        </pc:sldMkLst>
        <pc:spChg chg="mod">
          <ac:chgData name="Remco van den Enden" userId="0ebf1ae7-f412-4a41-bd03-b38a5d9f91fc" providerId="ADAL" clId="{282EB25F-464C-4F65-B8BE-5EC1AF3EA308}" dt="2018-09-17T10:12:28.332" v="0" actId="20577"/>
          <ac:spMkLst>
            <pc:docMk/>
            <pc:sldMk cId="4271662944" sldId="326"/>
            <ac:spMk id="3" creationId="{00000000-0000-0000-0000-000000000000}"/>
          </ac:spMkLst>
        </pc:spChg>
      </pc:sldChg>
      <pc:sldChg chg="modSp">
        <pc:chgData name="Remco van den Enden" userId="0ebf1ae7-f412-4a41-bd03-b38a5d9f91fc" providerId="ADAL" clId="{282EB25F-464C-4F65-B8BE-5EC1AF3EA308}" dt="2018-09-17T10:12:35.071" v="1" actId="20577"/>
        <pc:sldMkLst>
          <pc:docMk/>
          <pc:sldMk cId="3897640355" sldId="327"/>
        </pc:sldMkLst>
        <pc:spChg chg="mod">
          <ac:chgData name="Remco van den Enden" userId="0ebf1ae7-f412-4a41-bd03-b38a5d9f91fc" providerId="ADAL" clId="{282EB25F-464C-4F65-B8BE-5EC1AF3EA308}" dt="2018-09-17T10:12:35.071" v="1" actId="20577"/>
          <ac:spMkLst>
            <pc:docMk/>
            <pc:sldMk cId="3897640355" sldId="327"/>
            <ac:spMk id="3" creationId="{00000000-0000-0000-0000-000000000000}"/>
          </ac:spMkLst>
        </pc:spChg>
      </pc:sldChg>
    </pc:docChg>
  </pc:docChgLst>
  <pc:docChgLst>
    <pc:chgData name="Anwar Almofti (0926894)" userId="S::0926894@hr.nl::75dd6634-d4e5-4dff-9143-a992a82beac1" providerId="AD" clId="Web-{42086680-435E-41BF-898F-9A3E24B70EDB}"/>
    <pc:docChg chg="addSld modSld sldOrd">
      <pc:chgData name="Anwar Almofti (0926894)" userId="S::0926894@hr.nl::75dd6634-d4e5-4dff-9143-a992a82beac1" providerId="AD" clId="Web-{42086680-435E-41BF-898F-9A3E24B70EDB}" dt="2018-09-16T22:27:22.168" v="788" actId="20577"/>
      <pc:docMkLst>
        <pc:docMk/>
      </pc:docMkLst>
      <pc:sldChg chg="addSp delSp modSp new ord">
        <pc:chgData name="Anwar Almofti (0926894)" userId="S::0926894@hr.nl::75dd6634-d4e5-4dff-9143-a992a82beac1" providerId="AD" clId="Web-{42086680-435E-41BF-898F-9A3E24B70EDB}" dt="2018-09-16T22:21:35.031" v="622" actId="20577"/>
        <pc:sldMkLst>
          <pc:docMk/>
          <pc:sldMk cId="2316605362" sldId="352"/>
        </pc:sldMkLst>
        <pc:spChg chg="del">
          <ac:chgData name="Anwar Almofti (0926894)" userId="S::0926894@hr.nl::75dd6634-d4e5-4dff-9143-a992a82beac1" providerId="AD" clId="Web-{42086680-435E-41BF-898F-9A3E24B70EDB}" dt="2018-09-16T22:01:08.905" v="1" actId="20577"/>
          <ac:spMkLst>
            <pc:docMk/>
            <pc:sldMk cId="2316605362" sldId="352"/>
            <ac:spMk id="2" creationId="{3BCC9196-922C-48DF-98AB-2873FAAD506E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09:28.267" v="308" actId="20577"/>
          <ac:spMkLst>
            <pc:docMk/>
            <pc:sldMk cId="2316605362" sldId="352"/>
            <ac:spMk id="4" creationId="{2E7B7FDC-964F-442E-9230-47A83A60C3E6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06:54.657" v="218" actId="20577"/>
          <ac:spMkLst>
            <pc:docMk/>
            <pc:sldMk cId="2316605362" sldId="352"/>
            <ac:spMk id="5" creationId="{83B73AF7-BC4E-4800-B529-61623920A808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12:09.155" v="407" actId="20577"/>
          <ac:spMkLst>
            <pc:docMk/>
            <pc:sldMk cId="2316605362" sldId="352"/>
            <ac:spMk id="6" creationId="{324BE41D-6F2C-4E44-9411-D8E20190A0A7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16:36.860" v="482" actId="20577"/>
          <ac:spMkLst>
            <pc:docMk/>
            <pc:sldMk cId="2316605362" sldId="352"/>
            <ac:spMk id="7" creationId="{DB3122F0-976A-48FD-9CD9-A7A3B5181FAC}"/>
          </ac:spMkLst>
        </pc:spChg>
      </pc:sldChg>
      <pc:sldChg chg="addSp delSp modSp new">
        <pc:chgData name="Anwar Almofti (0926894)" userId="S::0926894@hr.nl::75dd6634-d4e5-4dff-9143-a992a82beac1" providerId="AD" clId="Web-{42086680-435E-41BF-898F-9A3E24B70EDB}" dt="2018-09-16T22:21:26.931" v="621" actId="1076"/>
        <pc:sldMkLst>
          <pc:docMk/>
          <pc:sldMk cId="2752253136" sldId="353"/>
        </pc:sldMkLst>
        <pc:spChg chg="del">
          <ac:chgData name="Anwar Almofti (0926894)" userId="S::0926894@hr.nl::75dd6634-d4e5-4dff-9143-a992a82beac1" providerId="AD" clId="Web-{42086680-435E-41BF-898F-9A3E24B70EDB}" dt="2018-09-16T22:16:47.751" v="485" actId="1076"/>
          <ac:spMkLst>
            <pc:docMk/>
            <pc:sldMk cId="2752253136" sldId="353"/>
            <ac:spMk id="2" creationId="{F3F0A270-0FF8-4C6E-B3CE-9E2DCD062050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21:20.634" v="620" actId="1076"/>
          <ac:spMkLst>
            <pc:docMk/>
            <pc:sldMk cId="2752253136" sldId="353"/>
            <ac:spMk id="6" creationId="{0AC144BE-9288-4836-9726-3C3A0D997D7B}"/>
          </ac:spMkLst>
        </pc:spChg>
        <pc:picChg chg="add mod">
          <ac:chgData name="Anwar Almofti (0926894)" userId="S::0926894@hr.nl::75dd6634-d4e5-4dff-9143-a992a82beac1" providerId="AD" clId="Web-{42086680-435E-41BF-898F-9A3E24B70EDB}" dt="2018-09-16T22:21:26.931" v="621" actId="1076"/>
          <ac:picMkLst>
            <pc:docMk/>
            <pc:sldMk cId="2752253136" sldId="353"/>
            <ac:picMk id="4" creationId="{6ADA3E54-9984-4846-BAD4-EFD3821ADBE4}"/>
          </ac:picMkLst>
        </pc:picChg>
      </pc:sldChg>
      <pc:sldChg chg="addSp delSp modSp new">
        <pc:chgData name="Anwar Almofti (0926894)" userId="S::0926894@hr.nl::75dd6634-d4e5-4dff-9143-a992a82beac1" providerId="AD" clId="Web-{42086680-435E-41BF-898F-9A3E24B70EDB}" dt="2018-09-16T22:27:21.075" v="787" actId="20577"/>
        <pc:sldMkLst>
          <pc:docMk/>
          <pc:sldMk cId="2353842814" sldId="354"/>
        </pc:sldMkLst>
        <pc:spChg chg="del">
          <ac:chgData name="Anwar Almofti (0926894)" userId="S::0926894@hr.nl::75dd6634-d4e5-4dff-9143-a992a82beac1" providerId="AD" clId="Web-{42086680-435E-41BF-898F-9A3E24B70EDB}" dt="2018-09-16T22:21:41.719" v="624" actId="20577"/>
          <ac:spMkLst>
            <pc:docMk/>
            <pc:sldMk cId="2353842814" sldId="354"/>
            <ac:spMk id="2" creationId="{1A46C318-A9C1-450A-8E39-6FDADE976A57}"/>
          </ac:spMkLst>
        </pc:spChg>
        <pc:spChg chg="add mod">
          <ac:chgData name="Anwar Almofti (0926894)" userId="S::0926894@hr.nl::75dd6634-d4e5-4dff-9143-a992a82beac1" providerId="AD" clId="Web-{42086680-435E-41BF-898F-9A3E24B70EDB}" dt="2018-09-16T22:27:21.075" v="787" actId="20577"/>
          <ac:spMkLst>
            <pc:docMk/>
            <pc:sldMk cId="2353842814" sldId="354"/>
            <ac:spMk id="6" creationId="{D8AA5428-133D-4096-A6CE-5B1E212A118F}"/>
          </ac:spMkLst>
        </pc:spChg>
        <pc:picChg chg="add mod">
          <ac:chgData name="Anwar Almofti (0926894)" userId="S::0926894@hr.nl::75dd6634-d4e5-4dff-9143-a992a82beac1" providerId="AD" clId="Web-{42086680-435E-41BF-898F-9A3E24B70EDB}" dt="2018-09-16T22:21:58.829" v="629" actId="1076"/>
          <ac:picMkLst>
            <pc:docMk/>
            <pc:sldMk cId="2353842814" sldId="354"/>
            <ac:picMk id="4" creationId="{FDED4E08-248A-4309-A6F7-3D3A10602D4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86B01C-E1B4-41AF-8165-68A41D199769}" type="datetimeFigureOut">
              <a:rPr lang="nl-NL"/>
              <a:pPr/>
              <a:t>22-9-2023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F05877-8D3E-4285-BAAF-3351F2AEBA7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020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87DA649-BF1A-4B9E-B469-B5F2A720E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71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3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67544" y="4728526"/>
            <a:ext cx="8748464" cy="93728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1" cap="none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5" name="Picture 2" descr="http://techiebees.in/upload/embedded-systems-projects-in-chennai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2" r="-112"/>
          <a:stretch/>
        </p:blipFill>
        <p:spPr bwMode="auto">
          <a:xfrm>
            <a:off x="-63814" y="-1823020"/>
            <a:ext cx="9263103" cy="6157788"/>
          </a:xfrm>
          <a:prstGeom prst="flowChartOffpageConnector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/>
              <a:t>Bla </a:t>
            </a:r>
            <a:r>
              <a:rPr lang="nl-NL" err="1"/>
              <a:t>bla</a:t>
            </a:r>
            <a:endParaRPr lang="nl-NL"/>
          </a:p>
          <a:p>
            <a:pPr lvl="1"/>
            <a:r>
              <a:rPr lang="nl-NL"/>
              <a:t>Bla</a:t>
            </a:r>
          </a:p>
          <a:p>
            <a:pPr lvl="2"/>
            <a:r>
              <a:rPr lang="nl-NL"/>
              <a:t>Bla</a:t>
            </a:r>
          </a:p>
          <a:p>
            <a:pPr lvl="3"/>
            <a:r>
              <a:rPr lang="nl-NL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91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89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15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cap="all">
          <a:solidFill>
            <a:srgbClr val="CC0033"/>
          </a:solidFill>
          <a:latin typeface="Calibri" panose="020F0502020204030204" pitchFamily="34" charset="0"/>
          <a:ea typeface="MS PGothic" panose="020B0600070205080204" pitchFamily="34" charset="-128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452401" indent="-452401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 sz="1667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68553" indent="-166674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2pPr>
      <a:lvl3pPr marL="918030" indent="-156092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333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3pPr>
      <a:lvl4pPr marL="1448478" indent="-190484" algn="l" rtl="0" eaLnBrk="0" fontAlgn="base" hangingPunct="0">
        <a:spcBef>
          <a:spcPct val="20000"/>
        </a:spcBef>
        <a:spcAft>
          <a:spcPct val="0"/>
        </a:spcAft>
        <a:buChar char="–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marL="1788440" indent="-190484" algn="l" rtl="0" eaLnBrk="0" fontAlgn="base" hangingPunct="0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Week 4: Opgaven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Verdeling</a:t>
            </a:r>
            <a:r>
              <a:rPr lang="en-US" dirty="0"/>
              <a:t> </a:t>
            </a:r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62759"/>
              </p:ext>
            </p:extLst>
          </p:nvPr>
        </p:nvGraphicFramePr>
        <p:xfrm>
          <a:off x="5860683" y="1342311"/>
          <a:ext cx="1728192" cy="1903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Belangrijk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3.14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3.16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930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Geef aan welke opdrachten je wilt bespreken</a:t>
            </a:r>
          </a:p>
        </p:txBody>
      </p:sp>
    </p:spTree>
    <p:extLst>
      <p:ext uri="{BB962C8B-B14F-4D97-AF65-F5344CB8AC3E}">
        <p14:creationId xmlns:p14="http://schemas.microsoft.com/office/powerpoint/2010/main" val="321190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4366939"/>
            <a:ext cx="8748464" cy="1660461"/>
          </a:xfrm>
        </p:spPr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Theorie Week 4 Datacommunicatie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Leerdoelen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b="1" dirty="0">
                <a:solidFill>
                  <a:srgbClr val="C00000"/>
                </a:solidFill>
                <a:cs typeface="Arial" panose="020B0604020202020204" pitchFamily="34" charset="0"/>
              </a:rPr>
              <a:t>Leerdoelen week 4.</a:t>
            </a:r>
            <a:r>
              <a:rPr lang="nl-NL" sz="2800" dirty="0">
                <a:cs typeface="Arial" panose="020B0604020202020204" pitchFamily="34" charset="0"/>
              </a:rPr>
              <a:t> Je gaat deze 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Leren hoe twee digitale systemen met behulp van datacommunicatie gegevens kunnen uitwisselen;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Leren wat de belangrijkste algemene begrippen zijn bij datacommunicatie;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Kennis maken met enkele praktische toepassingen van datacommunicatie.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800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C06C-CAFF-456E-AC49-10DC1417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Overzicht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69FA-BFC2-4649-8376-373CE7DC5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D175A16A-6A06-4A29-AEA5-391EDBB8E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254224"/>
            <a:ext cx="6629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1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906A8-DF91-49ED-8107-0E8C5606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en-US" dirty="0" err="1"/>
              <a:t>communicatie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ADD2C79-2FB9-487C-8318-FA9ED2099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04159D5-F49F-44E0-929D-B48CE3A55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0696"/>
            <a:ext cx="9144000" cy="36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Begrippen</a:t>
            </a:r>
            <a:r>
              <a:rPr lang="en-US" dirty="0"/>
              <a:t> </a:t>
            </a:r>
            <a:r>
              <a:rPr lang="en-US" dirty="0" err="1"/>
              <a:t>datacommunicatie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dirty="0">
                <a:cs typeface="Arial" panose="020B0604020202020204" pitchFamily="34" charset="0"/>
              </a:rPr>
              <a:t>Bij </a:t>
            </a:r>
            <a:r>
              <a:rPr lang="nl-NL" sz="2800" dirty="0">
                <a:solidFill>
                  <a:srgbClr val="B71327"/>
                </a:solidFill>
                <a:cs typeface="Arial" panose="020B0604020202020204" pitchFamily="34" charset="0"/>
              </a:rPr>
              <a:t>datacommunicatie</a:t>
            </a:r>
            <a:r>
              <a:rPr lang="nl-NL" sz="2800" dirty="0">
                <a:cs typeface="Arial" panose="020B0604020202020204" pitchFamily="34" charset="0"/>
              </a:rPr>
              <a:t> worden veel vaktermen (jargon) en afkortingen gebruikt.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Breid je woordenschat uit!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Veel begrippen staan duidelijk uitgelegd in het boek.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Maak een lijstje met woorden en afkortingen die je nog niet kent.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7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3426728"/>
            <a:ext cx="2311092" cy="23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23D5C-B3E3-41A0-AABB-DF87EF5D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Zoek</a:t>
            </a:r>
            <a:r>
              <a:rPr lang="en-US" dirty="0"/>
              <a:t> de </a:t>
            </a:r>
            <a:r>
              <a:rPr lang="en-US" dirty="0" err="1"/>
              <a:t>combinaties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6242AB4-26E1-4B34-A436-8D9C3198D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A53FEC29-FBAE-4A55-9AA8-464C8A1946CE}"/>
              </a:ext>
            </a:extLst>
          </p:cNvPr>
          <p:cNvSpPr txBox="1">
            <a:spLocks/>
          </p:cNvSpPr>
          <p:nvPr/>
        </p:nvSpPr>
        <p:spPr>
          <a:xfrm>
            <a:off x="395536" y="985292"/>
            <a:ext cx="8352928" cy="4464496"/>
          </a:xfrm>
          <a:prstGeom prst="rect">
            <a:avLst/>
          </a:prstGeom>
        </p:spPr>
        <p:txBody>
          <a:bodyPr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0" indent="0"/>
            <a:r>
              <a:rPr lang="nl-NL" b="0" kern="0" dirty="0"/>
              <a:t>Opdracht: Voeg de juiste termen bij de zinnen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Stuur ik bits tegelijk of achter elkaar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Hoe snel kan ik bits sturen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Meerdere gesprekken tegelijk over 1 kanaal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Stuur ik mijn kloksignaal mee of niet</a:t>
            </a:r>
          </a:p>
          <a:p>
            <a:pPr marL="457200" indent="-457200">
              <a:buFont typeface="+mj-lt"/>
              <a:buAutoNum type="arabicPeriod"/>
            </a:pPr>
            <a:r>
              <a:rPr lang="nl-NL" b="0" kern="0" dirty="0"/>
              <a:t>Hoe ziet mijn signaal er uit qua spanning 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9256EBB-DD50-48F8-BCE5-F85B754BC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34" y="3360234"/>
            <a:ext cx="5512818" cy="191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versus serieel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60D10D-533C-4A5F-8876-6096FDBD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801716"/>
            <a:ext cx="8352928" cy="6480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Wat is sneller? (synchronisatie, </a:t>
            </a:r>
            <a:r>
              <a:rPr lang="nl-NL" dirty="0" err="1"/>
              <a:t>overspraak</a:t>
            </a:r>
            <a:r>
              <a:rPr lang="nl-NL" dirty="0"/>
              <a:t>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9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897CABE-D906-4ABA-BB4D-A20C7D5CC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046986"/>
            <a:ext cx="8113111" cy="33078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55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versus serieel: (P)ATA versus SATA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860D10D-533C-4A5F-8876-6096FDBD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801716"/>
            <a:ext cx="8352928" cy="6480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Wat is sneller?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10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65" y="1371600"/>
            <a:ext cx="3914775" cy="313182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30" y="1544166"/>
            <a:ext cx="325755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6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733F2-9BFF-4CB2-96ED-0DE63387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3200" dirty="0"/>
              <a:t>Parallel is op korte afstand wel sneller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E9CA2-8A8D-48EA-BC02-78C9B4FD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11</a:t>
            </a:fld>
            <a:endParaRPr lang="nl-NL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39" y="1120140"/>
            <a:ext cx="8505123" cy="36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8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E7C64-49F7-4BA7-A5BC-4B4DA0C2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Kanaalcapaciteit en bandbreedte</a:t>
            </a:r>
            <a:endParaRPr lang="nl-NL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82A588-94A1-4629-ADDF-985C1BE6D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dirty="0"/>
                  <a:t>Wet van Shannon:</a:t>
                </a:r>
                <a:br>
                  <a:rPr lang="nl-NL" dirty="0"/>
                </a:br>
                <a:endParaRPr lang="nl-NL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nl-NL" i="1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type m:val="skw"/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nl-NL" dirty="0"/>
              </a:p>
              <a:p>
                <a:pPr marL="914400" lvl="1"/>
                <a:endParaRPr lang="nl-NL" sz="1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/>
                <a:r>
                  <a:rPr 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nl-NL" dirty="0"/>
                  <a:t> = Capaciteit</a:t>
                </a:r>
              </a:p>
              <a:p>
                <a:pPr marL="914400" lvl="1"/>
                <a:r>
                  <a:rPr lang="nl-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nl-NL" dirty="0"/>
                  <a:t> = Bandbreedte</a:t>
                </a:r>
              </a:p>
              <a:p>
                <a:pPr marL="914400" lvl="1"/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nl-NL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nl-NL" dirty="0"/>
                  <a:t> = Signaal-ruisverhouding</a:t>
                </a:r>
              </a:p>
              <a:p>
                <a:pPr marL="457200"/>
                <a:endParaRPr lang="nl-NL" dirty="0"/>
              </a:p>
              <a:p>
                <a:pPr lvl="1" indent="0">
                  <a:buNone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nl-NL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nl-NL" dirty="0"/>
                  <a:t>Zie: </a:t>
                </a:r>
                <a:r>
                  <a:rPr lang="nl-NL" dirty="0" err="1"/>
                  <a:t>Spice</a:t>
                </a:r>
                <a:r>
                  <a:rPr lang="nl-NL" dirty="0"/>
                  <a:t> voorbeeld.</a:t>
                </a: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C82A588-94A1-4629-ADDF-985C1BE6D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79" t="-1776" b="-5123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6EFB0B-C58A-4570-8EA0-61F748B25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689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cs typeface="Calibri"/>
              </a:rPr>
              <a:t>  Multiplexing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Hoe praten verschillende doelen en bronnen met elkaar over 1 kanaal (A</a:t>
            </a:r>
            <a:r>
              <a:rPr lang="nl-NL" sz="2800" dirty="0">
                <a:cs typeface="Calibri"/>
                <a:sym typeface="Wingdings" panose="05000000000000000000" pitchFamily="2" charset="2"/>
              </a:rPr>
              <a:t>  X, B  Y, C  Z)? </a:t>
            </a:r>
            <a:endParaRPr lang="nl-NL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Wat zijn de blokjes van M en D?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5" name="Picture 5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ECBEA1B4-7C9E-4C69-B922-5A152D254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258183"/>
            <a:ext cx="5295901" cy="25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2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C9E2-1BC4-46C4-B070-CC71A38A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>
                <a:cs typeface="Calibri"/>
              </a:rPr>
              <a:t>TDM Time Division Multiplexing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FDD4D8-A371-46AE-A750-B52C43520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96" y="3120390"/>
            <a:ext cx="8352928" cy="2514600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Tijd in stukken verdelen en elke keer een zender naar bijhorende ontvanger laten sturen.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Ieder heeft (gedurende een tijdslot) de hele capaciteit van het medium ter beschikking.</a:t>
            </a:r>
            <a:endParaRPr lang="nl-NL" sz="2800" dirty="0"/>
          </a:p>
          <a:p>
            <a:pPr marL="457200" indent="-457200">
              <a:buFont typeface="Arial" panose="020B0606030504020204" pitchFamily="34" charset="0"/>
              <a:buChar char="•"/>
            </a:pPr>
            <a:endParaRPr lang="nl-NL" sz="2800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6D2F14-DE90-4771-8131-01D4F7C41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14</a:t>
            </a:fld>
            <a:endParaRPr lang="nl-NL"/>
          </a:p>
        </p:txBody>
      </p:sp>
      <p:pic>
        <p:nvPicPr>
          <p:cNvPr id="6" name="Picture 6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27AA93BF-7150-48A6-85B7-487BD65F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31" y="1574590"/>
            <a:ext cx="8232536" cy="10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13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3F88-40F2-4C51-A468-6FFEB184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>
                <a:cs typeface="Calibri"/>
              </a:rPr>
              <a:t>FDM Frequency Division Multiplexing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23E313-6DB1-43D5-9C93-9080DB2B2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2834640"/>
            <a:ext cx="8352928" cy="2731770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Bij deze vorm wordt de capaciteit van het medium gesplitst in frequentiebanden.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Elke zender zal </a:t>
            </a:r>
            <a:r>
              <a:rPr lang="nl-NL" sz="2800" dirty="0" err="1">
                <a:cs typeface="Calibri"/>
              </a:rPr>
              <a:t>m.b.v</a:t>
            </a:r>
            <a:r>
              <a:rPr lang="nl-NL" sz="2800" dirty="0">
                <a:cs typeface="Calibri"/>
              </a:rPr>
              <a:t> modulatietechnieken zijn eigen toegewezen frequentieband gebruiken om met de bijhorende ontvanger te kunnen communiceren.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Voorbeelden?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08469-BBB6-4E2F-822F-E33C090A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15</a:t>
            </a:fld>
            <a:endParaRPr lang="nl-NL"/>
          </a:p>
        </p:txBody>
      </p:sp>
      <p:pic>
        <p:nvPicPr>
          <p:cNvPr id="4" name="Picture 4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C8141394-DE82-4A70-92C3-7375D8054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02674"/>
            <a:ext cx="8352928" cy="123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87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54A9-D6C0-44E8-9A10-6EE10D3C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FDM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38D53-7320-443D-8A02-9FD172F0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440430"/>
            <a:ext cx="8352928" cy="2009358"/>
          </a:xfrm>
        </p:spPr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cs typeface="Calibri"/>
              </a:rPr>
              <a:t>Bij standard FDM worden frequentiebanden door ongebruikte frequentiegebieden (g = </a:t>
            </a:r>
            <a:r>
              <a:rPr lang="nl-NL" sz="2800" dirty="0" err="1">
                <a:cs typeface="Calibri"/>
              </a:rPr>
              <a:t>guard</a:t>
            </a:r>
            <a:r>
              <a:rPr lang="nl-NL" sz="2800" dirty="0">
                <a:cs typeface="Calibri"/>
              </a:rPr>
              <a:t>) van elkaar gescheiden om interferentie te voorkomen.</a:t>
            </a:r>
            <a:endParaRPr lang="nl-NL" dirty="0"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cs typeface="Calibri"/>
              </a:rPr>
              <a:t>Hierbij verliezen we natuurlijk wel bandbreedte.</a:t>
            </a:r>
          </a:p>
          <a:p>
            <a:endParaRPr lang="nl-NL" sz="2800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0AB72-7A48-48FA-A49B-18DDED59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16</a:t>
            </a:fld>
            <a:endParaRPr lang="nl-NL"/>
          </a:p>
        </p:txBody>
      </p:sp>
      <p:pic>
        <p:nvPicPr>
          <p:cNvPr id="7" name="Afbeelding 6"/>
          <p:cNvPicPr/>
          <p:nvPr/>
        </p:nvPicPr>
        <p:blipFill>
          <a:blip r:embed="rId2"/>
          <a:stretch>
            <a:fillRect/>
          </a:stretch>
        </p:blipFill>
        <p:spPr>
          <a:xfrm>
            <a:off x="512370" y="987503"/>
            <a:ext cx="8096400" cy="23295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92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60A5-9A63-47E5-A1C8-BFE06AA1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OFDM Orthogonal FDM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23E91-0ABE-4C55-8A6F-79C96F9DF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03270"/>
            <a:ext cx="8352928" cy="2146518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Een moderne vorm van FDM is OFDM: door orthogonaliteit is er geen interferentie tussen verschillende </a:t>
            </a:r>
            <a:r>
              <a:rPr lang="nl-NL" sz="2800" dirty="0" err="1">
                <a:cs typeface="Calibri"/>
              </a:rPr>
              <a:t>subcarriers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Zelfde medium, maar hogere </a:t>
            </a:r>
            <a:r>
              <a:rPr lang="nl-NL" sz="2800" dirty="0" err="1">
                <a:cs typeface="Calibri"/>
              </a:rPr>
              <a:t>dataoverdacht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Meer uitleg: kwartaal 4: TEL10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9DDE8-13EA-4E8D-A344-DF3D567ED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17</a:t>
            </a:fld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" y="1078356"/>
            <a:ext cx="7147604" cy="21391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47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242C-FF67-489B-99CD-DDA76B06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Code Division Multi Access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FD8CF-2980-4387-9E2C-7EC2BF3D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Kanalen scheiden op basis van de data in plaats van tijd of frequentie.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Data van elk kanaal coderen met eigen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dirty="0"/>
              <a:t>Vectoren van de verschillende kanalen zijn allemaal orthogonaal.</a:t>
            </a:r>
          </a:p>
          <a:p>
            <a:pPr marL="800100" lvl="1" indent="-342900"/>
            <a:r>
              <a:rPr lang="nl-NL" dirty="0"/>
              <a:t>Inwendig product tussen orthogonale vectoren is altijd 0.</a:t>
            </a:r>
          </a:p>
          <a:p>
            <a:pPr marL="800100" lvl="1" indent="-342900"/>
            <a:r>
              <a:rPr lang="nl-NL" dirty="0"/>
              <a:t>Als een vector inverteert blijft het orthogonaal met de andere vectoren.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0CB6F-8F44-4831-B11C-0B7925A5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999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242C-FF67-489B-99CD-DDA76B06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CDMA </a:t>
            </a:r>
            <a:r>
              <a:rPr lang="en-US" dirty="0" err="1"/>
              <a:t>Voorbeeld</a:t>
            </a:r>
            <a:r>
              <a:rPr lang="en-US" dirty="0"/>
              <a:t> met 2 </a:t>
            </a:r>
            <a:r>
              <a:rPr lang="en-US" dirty="0" err="1"/>
              <a:t>kanalen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0CB6F-8F44-4831-B11C-0B7925A5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19</a:t>
            </a:fld>
            <a:endParaRPr lang="nl-NL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4FD8CF-2980-4387-9E2C-7EC2BF3D33FB}"/>
              </a:ext>
            </a:extLst>
          </p:cNvPr>
          <p:cNvSpPr txBox="1">
            <a:spLocks/>
          </p:cNvSpPr>
          <p:nvPr/>
        </p:nvSpPr>
        <p:spPr bwMode="auto">
          <a:xfrm>
            <a:off x="395536" y="985292"/>
            <a:ext cx="8632366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25462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01675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Voor A gebruik vector (1,-1) bij een 1 en (-1,1) bij een 0.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Voor B gebruik (-1,-1) bij een 1 en (1,1) bij een 0.</a:t>
            </a:r>
          </a:p>
          <a:p>
            <a:pPr marL="800100" lvl="1" indent="-342900"/>
            <a:r>
              <a:rPr lang="nl-NL" sz="2400" b="0" kern="0" dirty="0"/>
              <a:t>Zijn vectoren van A en B allemaal orthogonaal?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Bijvoorbeeld: op tijdstip k: A = 1 en B = 0. </a:t>
            </a:r>
          </a:p>
          <a:p>
            <a:pPr marL="800100" lvl="1" indent="-342900"/>
            <a:r>
              <a:rPr lang="nl-NL" sz="2400" b="0" kern="0" dirty="0"/>
              <a:t>Te versturen symbool = (1,-1) + (1,1) = (2,0)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800" b="0" kern="0" dirty="0"/>
              <a:t>Bij ontvangst:</a:t>
            </a:r>
          </a:p>
          <a:p>
            <a:pPr marL="800100" lvl="1" indent="-342900"/>
            <a:r>
              <a:rPr lang="nl-NL" sz="2400" b="0" kern="0" dirty="0"/>
              <a:t>Voor A: (2,0) · (1,-1) = 2 dus A was 1</a:t>
            </a:r>
          </a:p>
          <a:p>
            <a:pPr marL="800100" lvl="1" indent="-342900"/>
            <a:r>
              <a:rPr lang="nl-NL" sz="2400" b="0" kern="0" dirty="0"/>
              <a:t>Voor B: (2,0) · (-1,-1) = -2 dus B was 0</a:t>
            </a:r>
            <a:endParaRPr lang="nl-NL" b="0" kern="0" dirty="0"/>
          </a:p>
        </p:txBody>
      </p:sp>
      <p:sp>
        <p:nvSpPr>
          <p:cNvPr id="6" name="Tekstvak 5"/>
          <p:cNvSpPr txBox="1"/>
          <p:nvPr/>
        </p:nvSpPr>
        <p:spPr>
          <a:xfrm>
            <a:off x="3950677" y="5114260"/>
            <a:ext cx="4254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Toepassing: 3G mobiele telefoon</a:t>
            </a:r>
          </a:p>
        </p:txBody>
      </p:sp>
    </p:spTree>
    <p:extLst>
      <p:ext uri="{BB962C8B-B14F-4D97-AF65-F5344CB8AC3E}">
        <p14:creationId xmlns:p14="http://schemas.microsoft.com/office/powerpoint/2010/main" val="2557552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6234-9A25-4377-AB43-C62B86E3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Serieel datatransport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84874-CA45-4291-BFAA-F1912DE0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nl-NL" dirty="0">
                <a:cs typeface="Calibri"/>
              </a:rPr>
              <a:t>Probleem: Hoe houden beide kanten de </a:t>
            </a:r>
            <a:r>
              <a:rPr lang="nl-NL" dirty="0" err="1">
                <a:cs typeface="Calibri"/>
              </a:rPr>
              <a:t>bitovergangen</a:t>
            </a:r>
            <a:r>
              <a:rPr lang="nl-NL" dirty="0">
                <a:cs typeface="Calibri"/>
              </a:rPr>
              <a:t> bij?</a:t>
            </a:r>
          </a:p>
          <a:p>
            <a:endParaRPr lang="nl-NL" dirty="0">
              <a:cs typeface="Calibri"/>
            </a:endParaRPr>
          </a:p>
          <a:p>
            <a:pPr marL="514350" indent="-514350">
              <a:buAutoNum type="arabicPeriod"/>
            </a:pPr>
            <a:r>
              <a:rPr lang="nl-NL" dirty="0">
                <a:cs typeface="Calibri"/>
              </a:rPr>
              <a:t>Synchroon = Met kloksynchronisatie</a:t>
            </a:r>
          </a:p>
          <a:p>
            <a:pPr marL="514350" indent="-514350">
              <a:buAutoNum type="arabicPeriod"/>
            </a:pPr>
            <a:r>
              <a:rPr lang="nl-NL" dirty="0">
                <a:cs typeface="Calibri"/>
              </a:rPr>
              <a:t>Asynchroon = Zonder kloksynchronisatie</a:t>
            </a:r>
          </a:p>
          <a:p>
            <a:endParaRPr lang="nl-NL" dirty="0">
              <a:cs typeface="Calibri"/>
            </a:endParaRPr>
          </a:p>
          <a:p>
            <a:pPr marL="514350" indent="-514350">
              <a:buAutoNum type="arabicPeriod"/>
            </a:pPr>
            <a:endParaRPr lang="nl-NL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86F28-D795-4483-84F5-B3C36EA15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848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2CBB-53E8-43CD-AD16-D89997A21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>
                <a:cs typeface="Calibri"/>
              </a:rPr>
            </a:br>
            <a:r>
              <a:rPr lang="en-US" b="0" dirty="0" err="1">
                <a:cs typeface="Calibri"/>
              </a:rPr>
              <a:t>Synchrone</a:t>
            </a:r>
            <a:r>
              <a:rPr lang="en-US" b="0" dirty="0">
                <a:cs typeface="Calibri"/>
              </a:rPr>
              <a:t> </a:t>
            </a:r>
            <a:r>
              <a:rPr lang="en-US" b="0" dirty="0" err="1">
                <a:cs typeface="Calibri"/>
              </a:rPr>
              <a:t>datacommunicatie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D47A3-BF87-42DF-B519-384A9941F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531476"/>
            <a:ext cx="8352928" cy="1918312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Twee opties</a:t>
            </a:r>
          </a:p>
          <a:p>
            <a:pPr marL="914400" lvl="1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Je hebt een aparte klok lijn (I2C)</a:t>
            </a:r>
          </a:p>
          <a:p>
            <a:pPr marL="914400" lvl="1">
              <a:buFont typeface="Arial" panose="020B0606030504020204" pitchFamily="34" charset="0"/>
              <a:buChar char="•"/>
            </a:pPr>
            <a:r>
              <a:rPr lang="nl-NL" dirty="0">
                <a:cs typeface="Calibri"/>
              </a:rPr>
              <a:t>Je reconstrueert de klok</a:t>
            </a:r>
          </a:p>
          <a:p>
            <a:endParaRPr lang="nl-NL" dirty="0"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F4628-F020-4CE8-8D94-20D6E04EE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21</a:t>
            </a:fld>
            <a:endParaRPr lang="nl-NL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A522111-EA88-48D2-8594-19108D8F6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4" y="1326335"/>
            <a:ext cx="7905778" cy="145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38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D8BD-14B3-4BEA-831F-0D6504BA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0">
                <a:cs typeface="Calibri"/>
              </a:rPr>
            </a:br>
            <a:r>
              <a:rPr lang="en-US" b="0">
                <a:cs typeface="Calibri"/>
              </a:rPr>
              <a:t>Asynchrone datacommunicatie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830E0-BAE0-4A0C-B287-DD8640C4E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720662"/>
            <a:ext cx="8352928" cy="1729126"/>
          </a:xfrm>
        </p:spPr>
        <p:txBody>
          <a:bodyPr anchor="t"/>
          <a:lstStyle/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Je spreekt een klokfrequentie af.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Kijk halverwege een </a:t>
            </a:r>
            <a:r>
              <a:rPr lang="nl-NL" sz="2800" dirty="0" err="1">
                <a:cs typeface="Calibri"/>
              </a:rPr>
              <a:t>databit</a:t>
            </a:r>
            <a:r>
              <a:rPr lang="nl-NL" sz="2800" dirty="0">
                <a:cs typeface="Calibri"/>
              </a:rPr>
              <a:t> naar de waarde d.m.v. een vorm van </a:t>
            </a:r>
            <a:r>
              <a:rPr lang="nl-NL" sz="2800" dirty="0" err="1">
                <a:cs typeface="Calibri"/>
              </a:rPr>
              <a:t>oversampling</a:t>
            </a:r>
            <a:r>
              <a:rPr lang="nl-NL" sz="2800" dirty="0">
                <a:cs typeface="Calibri"/>
              </a:rPr>
              <a:t>.</a:t>
            </a:r>
          </a:p>
          <a:p>
            <a:pPr marL="457200" indent="-457200">
              <a:buFont typeface="Arial" panose="020B0606030504020204" pitchFamily="34" charset="0"/>
              <a:buChar char="•"/>
            </a:pPr>
            <a:r>
              <a:rPr lang="nl-NL" sz="2800" dirty="0">
                <a:cs typeface="Calibri"/>
              </a:rPr>
              <a:t>Hoe weet je waar de data begint?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688D4-52FD-470C-86D1-8CC0E2D6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22</a:t>
            </a:fld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94" y="1148861"/>
            <a:ext cx="5821667" cy="24767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151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Lijncoderingen</a:t>
            </a:r>
            <a:r>
              <a:rPr lang="en-US" dirty="0"/>
              <a:t> (</a:t>
            </a:r>
            <a:r>
              <a:rPr lang="en-US" dirty="0" err="1"/>
              <a:t>spanningen</a:t>
            </a:r>
            <a:r>
              <a:rPr lang="en-US" dirty="0"/>
              <a:t>)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E3C46-A73C-4E03-906B-372CA900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Problemen: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Kloksynchronisatie moeilijk zonder overgangen.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Bandbreedte moet optimaal benut worden.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Signaal mag geen DC component bevatten.</a:t>
            </a:r>
          </a:p>
          <a:p>
            <a:pPr marL="914400" lvl="1"/>
            <a:r>
              <a:rPr lang="nl-NL" dirty="0"/>
              <a:t>Signaal moet </a:t>
            </a:r>
            <a:r>
              <a:rPr lang="nl-NL" b="1" dirty="0">
                <a:solidFill>
                  <a:srgbClr val="C00000"/>
                </a:solidFill>
              </a:rPr>
              <a:t>gebalanceerd</a:t>
            </a:r>
            <a:r>
              <a:rPr lang="nl-NL" dirty="0"/>
              <a:t> zijn.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dirty="0"/>
              <a:t>Energieverbruik moet laag zijn.</a:t>
            </a:r>
          </a:p>
          <a:p>
            <a:pPr marL="457200" indent="-457200">
              <a:buFontTx/>
              <a:buChar char="-"/>
            </a:pPr>
            <a:endParaRPr lang="nl-NL" dirty="0"/>
          </a:p>
          <a:p>
            <a:pPr marL="457200" indent="-457200">
              <a:buFontTx/>
              <a:buChar char="-"/>
            </a:pP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235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Lijncoderingen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24</a:t>
            </a:fld>
            <a:endParaRPr lang="nl-NL"/>
          </a:p>
        </p:txBody>
      </p:sp>
      <p:pic>
        <p:nvPicPr>
          <p:cNvPr id="6" name="Afbeelding 5"/>
          <p:cNvPicPr/>
          <p:nvPr/>
        </p:nvPicPr>
        <p:blipFill>
          <a:blip r:embed="rId2"/>
          <a:stretch>
            <a:fillRect/>
          </a:stretch>
        </p:blipFill>
        <p:spPr>
          <a:xfrm>
            <a:off x="560861" y="1161092"/>
            <a:ext cx="7299360" cy="4326840"/>
          </a:xfrm>
          <a:prstGeom prst="rect">
            <a:avLst/>
          </a:prstGeom>
          <a:ln>
            <a:noFill/>
          </a:ln>
        </p:spPr>
      </p:pic>
      <p:sp>
        <p:nvSpPr>
          <p:cNvPr id="7" name="Tekstvak 6"/>
          <p:cNvSpPr txBox="1"/>
          <p:nvPr/>
        </p:nvSpPr>
        <p:spPr>
          <a:xfrm>
            <a:off x="8030308" y="1852246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8" name="Tekstvak 7"/>
          <p:cNvSpPr txBox="1"/>
          <p:nvPr/>
        </p:nvSpPr>
        <p:spPr>
          <a:xfrm>
            <a:off x="8030308" y="4570883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8030308" y="3168016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+V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8030308" y="264314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8110533" y="395891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8030308" y="518284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-V</a:t>
            </a:r>
          </a:p>
        </p:txBody>
      </p:sp>
      <p:sp>
        <p:nvSpPr>
          <p:cNvPr id="13" name="Tekstvak 12"/>
          <p:cNvSpPr txBox="1"/>
          <p:nvPr/>
        </p:nvSpPr>
        <p:spPr>
          <a:xfrm>
            <a:off x="390774" y="2781229"/>
            <a:ext cx="2250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Non Return Zero</a:t>
            </a:r>
          </a:p>
        </p:txBody>
      </p:sp>
      <p:sp>
        <p:nvSpPr>
          <p:cNvPr id="14" name="Tekstvak 13"/>
          <p:cNvSpPr txBox="1"/>
          <p:nvPr/>
        </p:nvSpPr>
        <p:spPr>
          <a:xfrm>
            <a:off x="390774" y="4109218"/>
            <a:ext cx="336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Non Return Zero </a:t>
            </a:r>
            <a:r>
              <a:rPr lang="nl-NL" b="0" dirty="0" err="1">
                <a:solidFill>
                  <a:srgbClr val="C00000"/>
                </a:solidFill>
                <a:latin typeface="Calibri" panose="020F0502020204030204" pitchFamily="34" charset="0"/>
              </a:rPr>
              <a:t>Inverted</a:t>
            </a:r>
            <a:endParaRPr lang="nl-NL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C636173-7A35-4657-A615-27674336C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3" y="856160"/>
            <a:ext cx="2493111" cy="1442224"/>
          </a:xfrm>
        </p:spPr>
        <p:txBody>
          <a:bodyPr/>
          <a:lstStyle/>
          <a:p>
            <a:r>
              <a:rPr lang="nl-NL" sz="800" dirty="0"/>
              <a:t>Problemen: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Kloksynchronisatie moeilijk zonder overgangen.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Bandbreedte moet optimaal benut worden.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Signaal mag geen DC component bevatten.</a:t>
            </a:r>
          </a:p>
          <a:p>
            <a:pPr marL="914400" lvl="1"/>
            <a:r>
              <a:rPr lang="nl-NL" sz="700" dirty="0"/>
              <a:t>Signaal moet </a:t>
            </a:r>
            <a:r>
              <a:rPr lang="nl-NL" sz="700" b="1" dirty="0">
                <a:solidFill>
                  <a:srgbClr val="C00000"/>
                </a:solidFill>
              </a:rPr>
              <a:t>gebalanceerd</a:t>
            </a:r>
            <a:r>
              <a:rPr lang="nl-NL" sz="700" dirty="0"/>
              <a:t> zijn.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800" dirty="0"/>
              <a:t>Energieverbruik moet laag zijn.</a:t>
            </a:r>
          </a:p>
          <a:p>
            <a:pPr marL="457200" indent="-457200">
              <a:buFontTx/>
              <a:buChar char="-"/>
            </a:pPr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3420360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Lijncoderingen problemen 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800" dirty="0"/>
              <a:t>NRZ: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Niet gebalanceerd.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Kloksynchronisatie moeilijk bij reeks nullen of reeks enen.</a:t>
            </a:r>
            <a:endParaRPr lang="nl-NL" sz="2800" dirty="0"/>
          </a:p>
          <a:p>
            <a:r>
              <a:rPr lang="nl-NL" sz="2800" dirty="0"/>
              <a:t>NRZI: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Niet gebalanceerd.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Kloksynchronisatie moeilijk bij reeks nullen.</a:t>
            </a:r>
          </a:p>
          <a:p>
            <a:r>
              <a:rPr lang="nl-NL" sz="2400" dirty="0"/>
              <a:t>Manchester: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Twee maal zoveel bandbreedte nodig.</a:t>
            </a:r>
            <a:endParaRPr lang="nl-NL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25</a:t>
            </a:fld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464384" y="5120052"/>
            <a:ext cx="763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Oplossingen: 4B/5B of 8B/10B zie boek. </a:t>
            </a:r>
          </a:p>
        </p:txBody>
      </p:sp>
    </p:spTree>
    <p:extLst>
      <p:ext uri="{BB962C8B-B14F-4D97-AF65-F5344CB8AC3E}">
        <p14:creationId xmlns:p14="http://schemas.microsoft.com/office/powerpoint/2010/main" val="338636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3EF7-0999-4C59-8E1A-C4BB2892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AMI Alternate Mark Inversion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31708-77E3-49C3-9071-BDFE0F8A5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26</a:t>
            </a:fld>
            <a:endParaRPr lang="nl-NL"/>
          </a:p>
        </p:txBody>
      </p:sp>
      <p:pic>
        <p:nvPicPr>
          <p:cNvPr id="15" name="Afbeelding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1632595"/>
            <a:ext cx="8200601" cy="2552543"/>
          </a:xfrm>
          <a:prstGeom prst="rect">
            <a:avLst/>
          </a:prstGeom>
          <a:ln>
            <a:noFill/>
          </a:ln>
        </p:spPr>
      </p:pic>
      <p:sp>
        <p:nvSpPr>
          <p:cNvPr id="4" name="Tekstvak 3"/>
          <p:cNvSpPr txBox="1"/>
          <p:nvPr/>
        </p:nvSpPr>
        <p:spPr>
          <a:xfrm>
            <a:off x="2098431" y="4652595"/>
            <a:ext cx="1606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Probleem?</a:t>
            </a:r>
          </a:p>
        </p:txBody>
      </p:sp>
    </p:spTree>
    <p:extLst>
      <p:ext uri="{BB962C8B-B14F-4D97-AF65-F5344CB8AC3E}">
        <p14:creationId xmlns:p14="http://schemas.microsoft.com/office/powerpoint/2010/main" val="111126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Differentiële verbinding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UTP (</a:t>
            </a:r>
            <a:r>
              <a:rPr lang="nl-NL" sz="2000" dirty="0" err="1">
                <a:latin typeface="Calibri"/>
                <a:cs typeface="Calibri"/>
              </a:rPr>
              <a:t>unshielded</a:t>
            </a:r>
            <a:r>
              <a:rPr lang="nl-NL" sz="2000" dirty="0">
                <a:latin typeface="Calibri"/>
                <a:cs typeface="Calibri"/>
              </a:rPr>
              <a:t> </a:t>
            </a:r>
            <a:r>
              <a:rPr lang="nl-NL" sz="2000" dirty="0" err="1">
                <a:latin typeface="Calibri"/>
                <a:cs typeface="Calibri"/>
              </a:rPr>
              <a:t>twisted</a:t>
            </a:r>
            <a:r>
              <a:rPr lang="nl-NL" sz="2000" dirty="0">
                <a:latin typeface="Calibri"/>
                <a:cs typeface="Calibri"/>
              </a:rPr>
              <a:t> pair).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2 verbindingen per signaal (tegengestelde polariteit).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Storingen elimineren elkaar.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De ontvanger neemt het verschil van signalen en produceert het oorspronkelijke signaal.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Een verstoring (het pieksignaal) wordt geëlimineerd.</a:t>
            </a:r>
          </a:p>
          <a:p>
            <a:pPr marL="342900" indent="-342900">
              <a:buFont typeface="Arial"/>
              <a:buChar char="•"/>
            </a:pPr>
            <a:r>
              <a:rPr lang="nl-NL" sz="2000" dirty="0">
                <a:latin typeface="Calibri"/>
                <a:cs typeface="Calibri"/>
              </a:rPr>
              <a:t>Voor 1GB/sec wordt 2 verzendpinnen en 2 ontvangpinnen gebruikt.</a:t>
            </a:r>
          </a:p>
          <a:p>
            <a:endParaRPr lang="nl-NL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0A4D20-E6F1-4ADD-86FB-50DF11E9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27</a:t>
            </a:fld>
            <a:endParaRPr lang="nl-NL"/>
          </a:p>
        </p:txBody>
      </p:sp>
      <p:pic>
        <p:nvPicPr>
          <p:cNvPr id="8" name="Afbeelding 7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080" y="3891364"/>
            <a:ext cx="8187840" cy="17024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6306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A6FAB-97C1-44F1-80A1-86A91C32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Samenvatting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CDEA8B9-C2DA-41FE-9668-F2B6031AD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28</a:t>
            </a:fld>
            <a:endParaRPr lang="nl-NL"/>
          </a:p>
        </p:txBody>
      </p:sp>
      <p:sp>
        <p:nvSpPr>
          <p:cNvPr id="6" name="Tijdelijke aanduiding voor inhoud 3">
            <a:extLst>
              <a:ext uri="{FF2B5EF4-FFF2-40B4-BE49-F238E27FC236}">
                <a16:creationId xmlns:a16="http://schemas.microsoft.com/office/drawing/2014/main" id="{0C2C651C-DCE0-4613-8D3D-D7648E146FCC}"/>
              </a:ext>
            </a:extLst>
          </p:cNvPr>
          <p:cNvSpPr txBox="1">
            <a:spLocks/>
          </p:cNvSpPr>
          <p:nvPr/>
        </p:nvSpPr>
        <p:spPr>
          <a:xfrm>
            <a:off x="359464" y="1069319"/>
            <a:ext cx="8668438" cy="4464496"/>
          </a:xfrm>
          <a:prstGeom prst="rect">
            <a:avLst/>
          </a:prstGeom>
        </p:spPr>
        <p:txBody>
          <a:bodyPr anchor="t"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285115" indent="-285115"/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Vandaag is besproken: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Het verschil tussen serieel </a:t>
            </a:r>
            <a:r>
              <a:rPr lang="nl-NL" sz="2800" b="0" kern="0">
                <a:latin typeface="Calibri" panose="020F0502020204030204" pitchFamily="34" charset="0"/>
                <a:cs typeface="calibri"/>
              </a:rPr>
              <a:t>en parallel</a:t>
            </a:r>
            <a:endParaRPr lang="nl-NL" sz="2800" b="0" kern="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Wat bandbreedte is en hoe dit gebruikt kan worden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Het verschil tussen synchroon en asynchroon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Soorten lijncodering en de problemen hiervan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 b="0" kern="0" dirty="0">
                <a:latin typeface="Calibri" panose="020F0502020204030204" pitchFamily="34" charset="0"/>
                <a:cs typeface="calibri"/>
              </a:rPr>
              <a:t>Differentiële verbinding</a:t>
            </a:r>
            <a:endParaRPr lang="en-US" sz="2800" b="0" kern="0" dirty="0"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0342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226283"/>
              </p:ext>
            </p:extLst>
          </p:nvPr>
        </p:nvGraphicFramePr>
        <p:xfrm>
          <a:off x="5719874" y="1349320"/>
          <a:ext cx="2160297" cy="15081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297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Opdracht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4.13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43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De opgaves in de tabel </a:t>
            </a:r>
            <a:r>
              <a:rPr lang="nl-NL" b="0" dirty="0">
                <a:latin typeface="Calibri" panose="020F0502020204030204" pitchFamily="34" charset="0"/>
              </a:rPr>
              <a:t>zijn de belangrijkste van deze week.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32C82B1-2C8A-4705-9118-B7B7738BF743}"/>
              </a:ext>
            </a:extLst>
          </p:cNvPr>
          <p:cNvSpPr txBox="1"/>
          <p:nvPr/>
        </p:nvSpPr>
        <p:spPr>
          <a:xfrm>
            <a:off x="832545" y="4126991"/>
            <a:ext cx="3086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Maak </a:t>
            </a:r>
            <a:r>
              <a:rPr lang="nl-NL" dirty="0">
                <a:solidFill>
                  <a:srgbClr val="C00000"/>
                </a:solidFill>
                <a:latin typeface="Calibri" panose="020F0502020204030204" pitchFamily="34" charset="0"/>
              </a:rPr>
              <a:t>alle</a:t>
            </a:r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 opdrachten! </a:t>
            </a:r>
          </a:p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(Niet alleen deze drie.)</a:t>
            </a:r>
          </a:p>
        </p:txBody>
      </p:sp>
    </p:spTree>
    <p:extLst>
      <p:ext uri="{BB962C8B-B14F-4D97-AF65-F5344CB8AC3E}">
        <p14:creationId xmlns:p14="http://schemas.microsoft.com/office/powerpoint/2010/main" val="3538151483"/>
      </p:ext>
    </p:extLst>
  </p:cSld>
  <p:clrMapOvr>
    <a:masterClrMapping/>
  </p:clrMapOvr>
</p:sld>
</file>

<file path=ppt/theme/theme1.xml><?xml version="1.0" encoding="utf-8"?>
<a:theme xmlns:a="http://schemas.openxmlformats.org/drawingml/2006/main" name="hoofdstuk pagina">
  <a:themeElements>
    <a:clrScheme name="HR 1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000066"/>
      </a:accent1>
      <a:accent2>
        <a:srgbClr val="B10538"/>
      </a:accent2>
      <a:accent3>
        <a:srgbClr val="FBCC19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</a:objectDefaults>
  <a:extraClrSchemeLst>
    <a:extraClrScheme>
      <a:clrScheme name="1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F69C6172-A376-40A5-9431-FF42499BECDB}"/>
    </a:ext>
  </a:extLst>
</a:theme>
</file>

<file path=ppt/theme/theme2.xml><?xml version="1.0" encoding="utf-8"?>
<a:theme xmlns:a="http://schemas.openxmlformats.org/drawingml/2006/main" name="1_tekst pagina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42C7"/>
      </a:hlink>
      <a:folHlink>
        <a:srgbClr val="0042C7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F07BCB72A92B4C9D76046AECE9B625" ma:contentTypeVersion="0" ma:contentTypeDescription="Een nieuw document maken." ma:contentTypeScope="" ma:versionID="6eba64e5f589dd0ea50e64ebf7ab9e0f">
  <xsd:schema xmlns:xsd="http://www.w3.org/2001/XMLSchema" xmlns:p="http://schemas.microsoft.com/office/2006/metadata/properties" targetNamespace="http://schemas.microsoft.com/office/2006/metadata/properties" ma:root="true" ma:fieldsID="b118b0825d757084c8d1e1ffd33f20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340D80-9729-43ED-BFCA-D40C2EB1F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D3368582-F340-48C1-9CD3-16BF51AC381B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F368F40-2527-4CD4-8EA8-8965DAA7BF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936</Words>
  <Application>Microsoft Office PowerPoint</Application>
  <PresentationFormat>On-screen Show (16:10)</PresentationFormat>
  <Paragraphs>183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 Math</vt:lpstr>
      <vt:lpstr>Lucida Grande</vt:lpstr>
      <vt:lpstr>Open Sans</vt:lpstr>
      <vt:lpstr>Verdana</vt:lpstr>
      <vt:lpstr>hoofdstuk pagina</vt:lpstr>
      <vt:lpstr>1_tekst pagina</vt:lpstr>
      <vt:lpstr>EMS20  Week 4: Opgaven Week 3</vt:lpstr>
      <vt:lpstr>Verdeling opdrachten</vt:lpstr>
      <vt:lpstr>EMS20  Theorie Week 4 Datacommunicatie</vt:lpstr>
      <vt:lpstr>Leerdoelen</vt:lpstr>
      <vt:lpstr>Overzicht</vt:lpstr>
      <vt:lpstr>I2C communicatie</vt:lpstr>
      <vt:lpstr>Begrippen datacommunicatie</vt:lpstr>
      <vt:lpstr>Zoek de combinaties</vt:lpstr>
      <vt:lpstr>Parallel versus serieel</vt:lpstr>
      <vt:lpstr>Parallel versus serieel: (P)ATA versus SATA</vt:lpstr>
      <vt:lpstr>Parallel is op korte afstand wel sneller</vt:lpstr>
      <vt:lpstr>Kanaalcapaciteit en bandbreedte</vt:lpstr>
      <vt:lpstr>  Multiplexing</vt:lpstr>
      <vt:lpstr> TDM Time Division Multiplexing </vt:lpstr>
      <vt:lpstr> FDM Frequency Division Multiplexing </vt:lpstr>
      <vt:lpstr>FDM</vt:lpstr>
      <vt:lpstr>OFDM Orthogonal FDM</vt:lpstr>
      <vt:lpstr>CDMA Code Division Multi Access</vt:lpstr>
      <vt:lpstr>CDMA Voorbeeld met 2 kanalen</vt:lpstr>
      <vt:lpstr>Serieel datatransport</vt:lpstr>
      <vt:lpstr> Synchrone datacommunicatie </vt:lpstr>
      <vt:lpstr> Asynchrone datacommunicatie </vt:lpstr>
      <vt:lpstr>Lijncoderingen (spanningen)</vt:lpstr>
      <vt:lpstr>Lijncoderingen</vt:lpstr>
      <vt:lpstr>Lijncoderingen problemen </vt:lpstr>
      <vt:lpstr>AMI Alternate Mark Inversion</vt:lpstr>
      <vt:lpstr>Differentiële verbinding</vt:lpstr>
      <vt:lpstr>Samenvatting</vt:lpstr>
      <vt:lpstr>Opdrachten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over enkele regel</dc:title>
  <dc:creator>Versluis, D.</dc:creator>
  <cp:lastModifiedBy>Verhagen, R.T. (Ron)</cp:lastModifiedBy>
  <cp:revision>91</cp:revision>
  <cp:lastPrinted>1601-01-01T00:00:00Z</cp:lastPrinted>
  <dcterms:created xsi:type="dcterms:W3CDTF">1601-01-01T00:00:00Z</dcterms:created>
  <dcterms:modified xsi:type="dcterms:W3CDTF">2023-09-22T10:31:36Z</dcterms:modified>
</cp:coreProperties>
</file>